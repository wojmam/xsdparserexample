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clean_high_detail_3d_abstract_sci_fi_tech_com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731520"/>
            <a:ext cx="562356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9601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200"/>
                </a:solidFill>
                <a:latin typeface="Aptos"/>
              </a:defRPr>
            </a:pPr>
            <a:r>
              <a:t>FORUM KOBIET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280160"/>
            <a:ext cx="47548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33333"/>
                </a:solidFill>
                <a:latin typeface="Aptos Display"/>
              </a:defRPr>
            </a:pPr>
            <a:r>
              <a:t>Jak wykorzystujemy AI</a:t>
            </a:r>
            <a:br/>
            <a:r>
              <a:t>w nowoczesnym projekcie</a:t>
            </a:r>
          </a:p>
          <a:p>
            <a:pPr>
              <a:spcBef>
                <a:spcPts val="600"/>
              </a:spcBef>
              <a:defRPr sz="1250">
                <a:solidFill>
                  <a:srgbClr val="767676"/>
                </a:solidFill>
                <a:latin typeface="Aptos"/>
              </a:defRPr>
            </a:pPr>
            <a:r>
              <a:t>Od promptów do agentów, od indywidualnej produktywności do skalowania wiedzy zespołu.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06908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67676"/>
                </a:solidFill>
                <a:latin typeface="Aptos"/>
              </a:defRPr>
            </a:pPr>
            <a:r>
              <a:t>Wersja rozszerzona • ok. 2 godziny</a:t>
            </a:r>
            <a:br/>
            <a:r>
              <a:t>Perspektywa praktyczna, biznesowa i projektowa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5532120"/>
            <a:ext cx="10607040" cy="713232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641848"/>
            <a:ext cx="10241280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33333"/>
                </a:solidFill>
                <a:latin typeface="Aptos"/>
              </a:defRPr>
            </a:pPr>
            <a:r>
              <a:t>Hasło przewodnie: AI daje największą wartość wtedy, gdy skaluje wiedzę organizacji, a nie tylko przyspiesza pojedynczą osobę.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67676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502920"/>
            <a:ext cx="2834640" cy="2834640"/>
          </a:xfrm>
          <a:prstGeom prst="ellipse">
            <a:avLst/>
          </a:prstGeom>
          <a:solidFill>
            <a:srgbClr val="FFD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5074920"/>
            <a:ext cx="2194560" cy="219456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84048"/>
            <a:ext cx="71323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Aptos Display"/>
              </a:defRPr>
            </a:pPr>
            <a:r>
              <a:t>Dlaczego ten temat jest dziś ważny?</a:t>
            </a:r>
          </a:p>
          <a:p>
            <a:pPr>
              <a:spcBef>
                <a:spcPts val="600"/>
              </a:spcBef>
              <a:defRPr sz="1250">
                <a:solidFill>
                  <a:srgbClr val="767676"/>
                </a:solidFill>
                <a:latin typeface="Aptos"/>
              </a:defRPr>
            </a:pPr>
            <a:r>
              <a:t>Perspektywa projektu i organizacji, nie tylko narzędzi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55778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AI przestaje być ciekawostką — staje się elementem codziennej pracy.</a:t>
            </a:r>
          </a:p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Pojawiają się jednak ważne pytania biznesowe: gdzie daje wartość, gdzie jest tylko modą i jak wdrażać je odpowiedzialnie?</a:t>
            </a:r>
          </a:p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Ta prezentacja pokazuje podejście praktyczne: co działa, kiedy działa i jakie ma ograniczenia w realnym środowisku projektowym.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1170432"/>
            <a:ext cx="4709160" cy="347472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_clean_abstract_3d_cg_graphic_scene_overall_a_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1243584"/>
            <a:ext cx="4562856" cy="332841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720840" y="4754880"/>
            <a:ext cx="1496568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_clean_modern_abstract_3d_conceptual_illustrat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4828032"/>
            <a:ext cx="1350264" cy="72237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327135" y="4754880"/>
            <a:ext cx="1496568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_clean_high_tech_3d_isometric_angled_infograph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0288" y="4828032"/>
            <a:ext cx="1350264" cy="722375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933432" y="4754880"/>
            <a:ext cx="1496568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_clean_minimalistic_3d_abstract_tech_data_vis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6584" y="4828032"/>
            <a:ext cx="1350264" cy="722375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49808" y="5486400"/>
            <a:ext cx="10789920" cy="621792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596128"/>
            <a:ext cx="104241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33333"/>
                </a:solidFill>
                <a:latin typeface="Aptos"/>
              </a:defRPr>
            </a:pPr>
            <a:r>
              <a:t>Ta prezentacja jest celowo „projektowa”: mniej o hype’ie, więcej o świadomym wykorzystaniu.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67676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502920"/>
            <a:ext cx="2834640" cy="2834640"/>
          </a:xfrm>
          <a:prstGeom prst="ellipse">
            <a:avLst/>
          </a:prstGeom>
          <a:solidFill>
            <a:srgbClr val="FFD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5074920"/>
            <a:ext cx="2194560" cy="219456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84048"/>
            <a:ext cx="71323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Aptos Display"/>
              </a:defRPr>
            </a:pPr>
            <a:r>
              <a:t>Plan spotkania</a:t>
            </a:r>
          </a:p>
          <a:p>
            <a:pPr>
              <a:spcBef>
                <a:spcPts val="600"/>
              </a:spcBef>
              <a:defRPr sz="1250">
                <a:solidFill>
                  <a:srgbClr val="767676"/>
                </a:solidFill>
                <a:latin typeface="Aptos"/>
              </a:defRPr>
            </a:pPr>
            <a:r>
              <a:t>Proponowany przepływ prezentacji 2-godzinnej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63040"/>
            <a:ext cx="4572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463040"/>
            <a:ext cx="4572000" cy="64008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572768"/>
            <a:ext cx="4242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333333"/>
                </a:solidFill>
                <a:latin typeface="Aptos Display"/>
              </a:defRPr>
            </a:pPr>
            <a:r>
              <a:t>1. AI w praktyce projektu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1920240"/>
            <a:ext cx="42611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Gdzie jest dziś.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Jaką daje wartość.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463040"/>
            <a:ext cx="4572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0760" y="1463040"/>
            <a:ext cx="4572000" cy="64008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45352" y="1572768"/>
            <a:ext cx="4242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333333"/>
                </a:solidFill>
                <a:latin typeface="Aptos Display"/>
              </a:defRPr>
            </a:pPr>
            <a:r>
              <a:t>2. Od promptu do agenta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5352" y="1920240"/>
            <a:ext cx="42611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Kiedy wystarczy prompt.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Kiedy potrzebujemy workflow.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880360"/>
            <a:ext cx="4572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80360"/>
            <a:ext cx="4572000" cy="64008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990088"/>
            <a:ext cx="4242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333333"/>
                </a:solidFill>
                <a:latin typeface="Aptos Display"/>
              </a:defRPr>
            </a:pPr>
            <a:r>
              <a:t>3. AI w całym SDLC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3337560"/>
            <a:ext cx="42611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Discovery, build, test, release, operations.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2880360"/>
            <a:ext cx="4572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80760" y="2880360"/>
            <a:ext cx="4572000" cy="64008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2990088"/>
            <a:ext cx="4242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333333"/>
                </a:solidFill>
                <a:latin typeface="Aptos Display"/>
              </a:defRPr>
            </a:pPr>
            <a:r>
              <a:t>4. Ograniczenia i bezpieczeństwo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3337560"/>
            <a:ext cx="42611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Co wolno, czego nie wolno i dlaczego.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9000" y="4297680"/>
            <a:ext cx="53035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29000" y="4297680"/>
            <a:ext cx="5303520" cy="64008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93592" y="4407408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333333"/>
                </a:solidFill>
                <a:latin typeface="Aptos Display"/>
              </a:defRPr>
            </a:pPr>
            <a:r>
              <a:t>5. Tokeny, praktyki i kierunek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93592" y="4754880"/>
            <a:ext cx="4992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Jak pracować mądrze z AI.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4709160"/>
            <a:ext cx="2286000" cy="128016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a_clean_abstract_3d_cg_graphic_scene_overall_a_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7152" y="4782312"/>
            <a:ext cx="2139696" cy="1133856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67676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de_3d_rendered_abstract_scene_minimal_corpo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2120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44475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200"/>
                </a:solidFill>
                <a:latin typeface="Aptos"/>
              </a:defRPr>
            </a:pPr>
            <a:r>
              <a:t>CZĘŚĆ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1737360"/>
            <a:ext cx="4480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Aptos"/>
              </a:defRPr>
            </a:pPr>
            <a:r>
              <a:t>AI w praktyce projektu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9260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67676"/>
                </a:solidFill>
                <a:latin typeface="Aptos"/>
              </a:defRPr>
            </a:pPr>
            <a:r>
              <a:t>Krótka zmiana perspektywy przed kolejną częścią.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67676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502920"/>
            <a:ext cx="2834640" cy="2834640"/>
          </a:xfrm>
          <a:prstGeom prst="ellipse">
            <a:avLst/>
          </a:prstGeom>
          <a:solidFill>
            <a:srgbClr val="FFD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5074920"/>
            <a:ext cx="2194560" cy="219456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84048"/>
            <a:ext cx="71323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Aptos Display"/>
              </a:defRPr>
            </a:pPr>
            <a:r>
              <a:t>Gdzie AI wpisuje się w SDLC?</a:t>
            </a:r>
          </a:p>
          <a:p>
            <a:pPr>
              <a:spcBef>
                <a:spcPts val="600"/>
              </a:spcBef>
              <a:defRPr sz="1250">
                <a:solidFill>
                  <a:srgbClr val="767676"/>
                </a:solidFill>
                <a:latin typeface="Aptos"/>
              </a:defRPr>
            </a:pPr>
            <a:r>
              <a:t>Nie tylko w development — wartość rozlewa się przez cały cykl życia rozwiązania</a:t>
            </a:r>
          </a:p>
        </p:txBody>
      </p:sp>
      <p:sp>
        <p:nvSpPr>
          <p:cNvPr id="6" name="Oval 5"/>
          <p:cNvSpPr/>
          <p:nvPr/>
        </p:nvSpPr>
        <p:spPr>
          <a:xfrm>
            <a:off x="1069848" y="1481328"/>
            <a:ext cx="475488" cy="475488"/>
          </a:xfrm>
          <a:prstGeom prst="ellipse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6152" y="1563624"/>
            <a:ext cx="164592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1828800"/>
            <a:ext cx="16459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993392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50" b="1">
                <a:solidFill>
                  <a:srgbClr val="333333"/>
                </a:solidFill>
                <a:latin typeface="Aptos Display"/>
              </a:defRPr>
            </a:pPr>
            <a:r>
              <a:t>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423160"/>
            <a:ext cx="13716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20">
                <a:solidFill>
                  <a:srgbClr val="767676"/>
                </a:solidFill>
                <a:latin typeface="Aptos"/>
              </a:defRPr>
            </a:pPr>
            <a:r>
              <a:t>wymagania</a:t>
            </a:r>
          </a:p>
          <a:p>
            <a:pPr algn="ctr">
              <a:defRPr sz="1120">
                <a:solidFill>
                  <a:srgbClr val="767676"/>
                </a:solidFill>
                <a:latin typeface="Aptos"/>
              </a:defRPr>
            </a:pPr>
            <a:r>
              <a:t>pytania</a:t>
            </a:r>
          </a:p>
          <a:p>
            <a:pPr algn="ctr">
              <a:defRPr sz="1120">
                <a:solidFill>
                  <a:srgbClr val="767676"/>
                </a:solidFill>
                <a:latin typeface="Aptos"/>
              </a:defRPr>
            </a:pPr>
            <a:r>
              <a:t>synteza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21408" y="2971800"/>
            <a:ext cx="237744" cy="0"/>
          </a:xfrm>
          <a:prstGeom prst="line">
            <a:avLst/>
          </a:prstGeom>
          <a:ln w="30480">
            <a:solidFill>
              <a:srgbClr val="FF6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971800" y="1481328"/>
            <a:ext cx="475488" cy="475488"/>
          </a:xfrm>
          <a:prstGeom prst="ellipse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18104" y="1563624"/>
            <a:ext cx="164592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77440" y="1828800"/>
            <a:ext cx="16459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1993392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50" b="1">
                <a:solidFill>
                  <a:srgbClr val="333333"/>
                </a:solidFill>
                <a:latin typeface="Aptos Display"/>
              </a:defRPr>
            </a:pPr>
            <a:r>
              <a:t>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2423160"/>
            <a:ext cx="13716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20">
                <a:solidFill>
                  <a:srgbClr val="767676"/>
                </a:solidFill>
                <a:latin typeface="Aptos"/>
              </a:defRPr>
            </a:pPr>
            <a:r>
              <a:t>warianty</a:t>
            </a:r>
          </a:p>
          <a:p>
            <a:pPr algn="ctr">
              <a:defRPr sz="1120">
                <a:solidFill>
                  <a:srgbClr val="767676"/>
                </a:solidFill>
                <a:latin typeface="Aptos"/>
              </a:defRPr>
            </a:pPr>
            <a:r>
              <a:t>trade-offy</a:t>
            </a:r>
          </a:p>
          <a:p>
            <a:pPr algn="ctr">
              <a:defRPr sz="1120">
                <a:solidFill>
                  <a:srgbClr val="767676"/>
                </a:solidFill>
                <a:latin typeface="Aptos"/>
              </a:defRPr>
            </a:pPr>
            <a:r>
              <a:t>plan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23360" y="2971800"/>
            <a:ext cx="237744" cy="0"/>
          </a:xfrm>
          <a:prstGeom prst="line">
            <a:avLst/>
          </a:prstGeom>
          <a:ln w="30480">
            <a:solidFill>
              <a:srgbClr val="FF6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873752" y="1481328"/>
            <a:ext cx="475488" cy="475488"/>
          </a:xfrm>
          <a:prstGeom prst="ellipse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0056" y="1563624"/>
            <a:ext cx="164592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79392" y="1828800"/>
            <a:ext cx="16459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0831" y="1993392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50" b="1">
                <a:solidFill>
                  <a:srgbClr val="333333"/>
                </a:solidFill>
                <a:latin typeface="Aptos Display"/>
              </a:defRPr>
            </a:pPr>
            <a:r>
              <a:t>Build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2" y="2423160"/>
            <a:ext cx="13716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20">
                <a:solidFill>
                  <a:srgbClr val="767676"/>
                </a:solidFill>
                <a:latin typeface="Aptos"/>
              </a:defRPr>
            </a:pPr>
            <a:r>
              <a:t>szkice</a:t>
            </a:r>
          </a:p>
          <a:p>
            <a:pPr algn="ctr">
              <a:defRPr sz="1120">
                <a:solidFill>
                  <a:srgbClr val="767676"/>
                </a:solidFill>
                <a:latin typeface="Aptos"/>
              </a:defRPr>
            </a:pPr>
            <a:r>
              <a:t>refactoring</a:t>
            </a:r>
          </a:p>
          <a:p>
            <a:pPr algn="ctr">
              <a:defRPr sz="1120">
                <a:solidFill>
                  <a:srgbClr val="767676"/>
                </a:solidFill>
                <a:latin typeface="Aptos"/>
              </a:defRPr>
            </a:pPr>
            <a:r>
              <a:t>boilerplate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25312" y="2971800"/>
            <a:ext cx="237744" cy="0"/>
          </a:xfrm>
          <a:prstGeom prst="line">
            <a:avLst/>
          </a:prstGeom>
          <a:ln w="30480">
            <a:solidFill>
              <a:srgbClr val="FF6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775704" y="1481328"/>
            <a:ext cx="475488" cy="475488"/>
          </a:xfrm>
          <a:prstGeom prst="ellipse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22008" y="1563624"/>
            <a:ext cx="164592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1344" y="1828800"/>
            <a:ext cx="16459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72783" y="1993392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50" b="1">
                <a:solidFill>
                  <a:srgbClr val="333333"/>
                </a:solidFill>
                <a:latin typeface="Aptos Display"/>
              </a:defRPr>
            </a:pPr>
            <a:r>
              <a:t>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8504" y="2423160"/>
            <a:ext cx="13716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20">
                <a:solidFill>
                  <a:srgbClr val="767676"/>
                </a:solidFill>
                <a:latin typeface="Aptos"/>
              </a:defRPr>
            </a:pPr>
            <a:r>
              <a:t>scenariusze</a:t>
            </a:r>
          </a:p>
          <a:p>
            <a:pPr algn="ctr">
              <a:defRPr sz="1120">
                <a:solidFill>
                  <a:srgbClr val="767676"/>
                </a:solidFill>
                <a:latin typeface="Aptos"/>
              </a:defRPr>
            </a:pPr>
            <a:r>
              <a:t>dane</a:t>
            </a:r>
          </a:p>
          <a:p>
            <a:pPr algn="ctr">
              <a:defRPr sz="1120">
                <a:solidFill>
                  <a:srgbClr val="767676"/>
                </a:solidFill>
                <a:latin typeface="Aptos"/>
              </a:defRPr>
            </a:pPr>
            <a:r>
              <a:t>review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27264" y="2971800"/>
            <a:ext cx="237744" cy="0"/>
          </a:xfrm>
          <a:prstGeom prst="line">
            <a:avLst/>
          </a:prstGeom>
          <a:ln w="30480">
            <a:solidFill>
              <a:srgbClr val="FF6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8677656" y="1481328"/>
            <a:ext cx="475488" cy="475488"/>
          </a:xfrm>
          <a:prstGeom prst="ellipse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23960" y="1563624"/>
            <a:ext cx="164592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83296" y="1828800"/>
            <a:ext cx="16459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74736" y="1993392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50" b="1">
                <a:solidFill>
                  <a:srgbClr val="333333"/>
                </a:solidFill>
                <a:latin typeface="Aptos Display"/>
              </a:defRPr>
            </a:pPr>
            <a:r>
              <a:t>Release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0456" y="2423160"/>
            <a:ext cx="13716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20">
                <a:solidFill>
                  <a:srgbClr val="767676"/>
                </a:solidFill>
                <a:latin typeface="Aptos"/>
              </a:defRPr>
            </a:pPr>
            <a:r>
              <a:t>checklisty</a:t>
            </a:r>
          </a:p>
          <a:p>
            <a:pPr algn="ctr">
              <a:defRPr sz="1120">
                <a:solidFill>
                  <a:srgbClr val="767676"/>
                </a:solidFill>
                <a:latin typeface="Aptos"/>
              </a:defRPr>
            </a:pPr>
            <a:r>
              <a:t>release notes</a:t>
            </a:r>
          </a:p>
          <a:p>
            <a:pPr algn="ctr">
              <a:defRPr sz="1120">
                <a:solidFill>
                  <a:srgbClr val="767676"/>
                </a:solidFill>
                <a:latin typeface="Aptos"/>
              </a:defRPr>
            </a:pPr>
            <a:r>
              <a:t>gotowość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29216" y="2971800"/>
            <a:ext cx="237744" cy="0"/>
          </a:xfrm>
          <a:prstGeom prst="line">
            <a:avLst/>
          </a:prstGeom>
          <a:ln w="30480">
            <a:solidFill>
              <a:srgbClr val="FF6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10579608" y="1481328"/>
            <a:ext cx="475488" cy="475488"/>
          </a:xfrm>
          <a:prstGeom prst="ellipse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25912" y="1563624"/>
            <a:ext cx="164592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985248" y="1828800"/>
            <a:ext cx="16459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76688" y="1993392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50" b="1">
                <a:solidFill>
                  <a:srgbClr val="333333"/>
                </a:solidFill>
                <a:latin typeface="Aptos Display"/>
              </a:defRPr>
            </a:pPr>
            <a:r>
              <a:t>Operate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22408" y="2423160"/>
            <a:ext cx="13716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20">
                <a:solidFill>
                  <a:srgbClr val="767676"/>
                </a:solidFill>
                <a:latin typeface="Aptos"/>
              </a:defRPr>
            </a:pPr>
            <a:r>
              <a:t>incydenty</a:t>
            </a:r>
          </a:p>
          <a:p>
            <a:pPr algn="ctr">
              <a:defRPr sz="1120">
                <a:solidFill>
                  <a:srgbClr val="767676"/>
                </a:solidFill>
                <a:latin typeface="Aptos"/>
              </a:defRPr>
            </a:pPr>
            <a:r>
              <a:t>onboarding</a:t>
            </a:r>
          </a:p>
          <a:p>
            <a:pPr algn="ctr">
              <a:defRPr sz="1120">
                <a:solidFill>
                  <a:srgbClr val="767676"/>
                </a:solidFill>
                <a:latin typeface="Aptos"/>
              </a:defRPr>
            </a:pPr>
            <a:r>
              <a:t>knowledge work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9808" y="5486400"/>
            <a:ext cx="10789920" cy="621792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2688" y="5596128"/>
            <a:ext cx="104241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33333"/>
                </a:solidFill>
                <a:latin typeface="Aptos"/>
              </a:defRPr>
            </a:pPr>
            <a:r>
              <a:t>Najprostszy błąd: myślenie, że AI = chatbot do kodu. W praktyce największa wartość pojawia się także przed i po implementacji.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67676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502920"/>
            <a:ext cx="2834640" cy="2834640"/>
          </a:xfrm>
          <a:prstGeom prst="ellipse">
            <a:avLst/>
          </a:prstGeom>
          <a:solidFill>
            <a:srgbClr val="FFD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5074920"/>
            <a:ext cx="2194560" cy="219456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84048"/>
            <a:ext cx="71323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Aptos Display"/>
              </a:defRPr>
            </a:pPr>
            <a:r>
              <a:t>Jak AI daje wartość już dziś?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55778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Przyspiesza przygotowanie pierwszej wersji rozwiązania.</a:t>
            </a:r>
          </a:p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Pomaga porządkować złożone informacje i skraca drogę do decyzji.</a:t>
            </a:r>
          </a:p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Wspiera tworzenie scenariuszy, checklist, podsumowań i dokumentacji.</a:t>
            </a:r>
          </a:p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Redukuje część pracy odtwórczej: boilerplate, warianty, porównania.</a:t>
            </a:r>
          </a:p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Ułatwia onboarding, bo pomaga szybciej wejść w kontekst.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1170432"/>
            <a:ext cx="4709160" cy="347472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_clean_minimalistic_3d_abstract_tech_data_vis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1243584"/>
            <a:ext cx="4562856" cy="332841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720840" y="4754880"/>
            <a:ext cx="1496568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_clean_abstract_3d_cg_graphic_scene_overall_a_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4828032"/>
            <a:ext cx="1350264" cy="72237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327135" y="4754880"/>
            <a:ext cx="1496568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_clean_modern_abstract_3d_conceptual_illustrat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0288" y="4828032"/>
            <a:ext cx="1350264" cy="722375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933432" y="4754880"/>
            <a:ext cx="1496568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_clean_modern_3d_conceptual_illustration_scen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6584" y="4828032"/>
            <a:ext cx="1350264" cy="722375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49808" y="5486400"/>
            <a:ext cx="10789920" cy="621792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596128"/>
            <a:ext cx="104241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33333"/>
                </a:solidFill>
                <a:latin typeface="Aptos"/>
              </a:defRPr>
            </a:pPr>
            <a:r>
              <a:t>Największa wartość często nie jest spektakularna. Jest po prostu regularna i powtarzalna.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67676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502920"/>
            <a:ext cx="2834640" cy="2834640"/>
          </a:xfrm>
          <a:prstGeom prst="ellipse">
            <a:avLst/>
          </a:prstGeom>
          <a:solidFill>
            <a:srgbClr val="FFD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5074920"/>
            <a:ext cx="2194560" cy="219456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84048"/>
            <a:ext cx="71323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Aptos Display"/>
              </a:defRPr>
            </a:pPr>
            <a:r>
              <a:t>Od ogólnego asystenta do AI, które zna nasz sposób pracy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55778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Ogólny model zna technologię, ale nie zna konwencji naszej organizacji.</a:t>
            </a:r>
          </a:p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To oznacza, że może wygenerować wynik „poprawny”, który nadal nie pasuje do naszego procesu.</a:t>
            </a:r>
          </a:p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Przełomem jest moment, w którym zaczynamy przekazywać AI wiedzę o standardach, nazwach, krokach i artefaktach obowiązkowych.</a:t>
            </a:r>
          </a:p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Wtedy AI przestaje być tylko narzędziem jednostki, a zaczyna wspierać spójność całego zespołu.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1170432"/>
            <a:ext cx="4709160" cy="347472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_clean_high_tech_3d_isometric_angled_inf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1243584"/>
            <a:ext cx="4562856" cy="332841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720840" y="4754880"/>
            <a:ext cx="1496568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_clean_minimal_3d_isometric_oblique_rendered_s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4828032"/>
            <a:ext cx="1350264" cy="72237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327135" y="4754880"/>
            <a:ext cx="1496568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_clean_high_detail_3d_abstract_sci_fi_tech_com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0288" y="4828032"/>
            <a:ext cx="1350264" cy="722375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933432" y="4754880"/>
            <a:ext cx="1496568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_clean_modern_abstract_3d_conceptual_illustrat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6584" y="4828032"/>
            <a:ext cx="1350264" cy="722375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49808" y="5486400"/>
            <a:ext cx="10789920" cy="621792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596128"/>
            <a:ext cx="104241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33333"/>
                </a:solidFill>
                <a:latin typeface="Aptos"/>
              </a:defRPr>
            </a:pPr>
            <a:r>
              <a:t>Skrót myślowy: model zna technologię. Organizacja uczy go, jak działać „u nas”.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67676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502920"/>
            <a:ext cx="2834640" cy="2834640"/>
          </a:xfrm>
          <a:prstGeom prst="ellipse">
            <a:avLst/>
          </a:prstGeom>
          <a:solidFill>
            <a:srgbClr val="FFD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5074920"/>
            <a:ext cx="2194560" cy="219456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84048"/>
            <a:ext cx="71323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Aptos Display"/>
              </a:defRPr>
            </a:pPr>
            <a:r>
              <a:t>Jakie obszary pracy zyskują najbardziej?</a:t>
            </a:r>
          </a:p>
          <a:p>
            <a:pPr>
              <a:spcBef>
                <a:spcPts val="600"/>
              </a:spcBef>
              <a:defRPr sz="1250">
                <a:solidFill>
                  <a:srgbClr val="767676"/>
                </a:solidFill>
                <a:latin typeface="Aptos"/>
              </a:defRPr>
            </a:pPr>
            <a:r>
              <a:t>Trzy miejsca, gdzie wzrost jakości i przewidywalności jest najszybciej widoczny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508760"/>
            <a:ext cx="32461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508760"/>
            <a:ext cx="3246120" cy="64008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18488"/>
            <a:ext cx="2916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333333"/>
                </a:solidFill>
                <a:latin typeface="Aptos Display"/>
              </a:defRPr>
            </a:pPr>
            <a:r>
              <a:t>Praca indywidualna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2935224" cy="2587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szybszy start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mniej pustej kartki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łatwiejsze porządkowanie pomysłów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50791" y="1508760"/>
            <a:ext cx="32461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50791" y="1508760"/>
            <a:ext cx="3246120" cy="64008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15383" y="1618488"/>
            <a:ext cx="2916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333333"/>
                </a:solidFill>
                <a:latin typeface="Aptos Display"/>
              </a:defRPr>
            </a:pPr>
            <a:r>
              <a:t>Praca zespołowa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15383" y="1965960"/>
            <a:ext cx="2935224" cy="2587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większa spójność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mniej wiedzy „ustnej”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łatwiejszy onboarding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51775" y="1508760"/>
            <a:ext cx="32461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51775" y="1508760"/>
            <a:ext cx="3246120" cy="64008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16367" y="1618488"/>
            <a:ext cx="2916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333333"/>
                </a:solidFill>
                <a:latin typeface="Aptos Display"/>
              </a:defRPr>
            </a:pPr>
            <a:r>
              <a:t>Praca organizacyjna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16367" y="1965960"/>
            <a:ext cx="2935224" cy="2587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standardy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reuse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skalowanie wiedzy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30752" y="4864608"/>
            <a:ext cx="1496568" cy="841248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a_clean_minimalistic_3d_abstract_tech_data_vis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904" y="4937760"/>
            <a:ext cx="1350264" cy="694944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5337048" y="4864608"/>
            <a:ext cx="1496568" cy="841248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wide_3d_rendered_abstract_scene_minimal_corpo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4937760"/>
            <a:ext cx="1350264" cy="694944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943344" y="4864608"/>
            <a:ext cx="1496568" cy="841248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a_clean_high_tech_3d_isometric_angled_infograph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6496" y="4937760"/>
            <a:ext cx="1350264" cy="694944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749808" y="5486400"/>
            <a:ext cx="10789920" cy="621792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5596128"/>
            <a:ext cx="104241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33333"/>
                </a:solidFill>
                <a:latin typeface="Aptos"/>
              </a:defRPr>
            </a:pPr>
            <a:r>
              <a:t>AI ma sens wtedy, gdy wzmacnia zarówno produktywność osoby, jak i przewidywalność działania zespołu.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67676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clean_minimal_3d_isometric_oblique_rendered_s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2120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44475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200"/>
                </a:solidFill>
                <a:latin typeface="Aptos"/>
              </a:defRPr>
            </a:pPr>
            <a:r>
              <a:t>CZĘŚĆ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1737360"/>
            <a:ext cx="4480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Aptos"/>
              </a:defRPr>
            </a:pPr>
            <a:r>
              <a:t>Od promptu do agenta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9260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67676"/>
                </a:solidFill>
                <a:latin typeface="Aptos"/>
              </a:defRPr>
            </a:pPr>
            <a:r>
              <a:t>Krótka zmiana perspektywy przed kolejną częścią.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67676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502920"/>
            <a:ext cx="2834640" cy="2834640"/>
          </a:xfrm>
          <a:prstGeom prst="ellipse">
            <a:avLst/>
          </a:prstGeom>
          <a:solidFill>
            <a:srgbClr val="FFD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5074920"/>
            <a:ext cx="2194560" cy="219456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84048"/>
            <a:ext cx="71323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Aptos Display"/>
              </a:defRPr>
            </a:pPr>
            <a:r>
              <a:t>Trzy tryby współpracy z AI</a:t>
            </a:r>
          </a:p>
          <a:p>
            <a:pPr>
              <a:spcBef>
                <a:spcPts val="600"/>
              </a:spcBef>
              <a:defRPr sz="1250">
                <a:solidFill>
                  <a:srgbClr val="767676"/>
                </a:solidFill>
                <a:latin typeface="Aptos"/>
              </a:defRPr>
            </a:pPr>
            <a:r>
              <a:t>Nie każde zadanie wymaga tego samego poziomu „inteligentnego opakowania”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508760"/>
            <a:ext cx="32461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508760"/>
            <a:ext cx="3246120" cy="64008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18488"/>
            <a:ext cx="2916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333333"/>
                </a:solidFill>
                <a:latin typeface="Aptos Display"/>
              </a:defRPr>
            </a:pPr>
            <a:r>
              <a:t>Prompting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2935224" cy="2587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jedno polecenie lub krótka rozmowa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najlepsze do szybkich, jednorazowych zadań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niski koszt przygotowania i niski koszt tokenowy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50791" y="1508760"/>
            <a:ext cx="32461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50791" y="1508760"/>
            <a:ext cx="3246120" cy="64008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15383" y="1618488"/>
            <a:ext cx="2916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333333"/>
                </a:solidFill>
                <a:latin typeface="Aptos Display"/>
              </a:defRPr>
            </a:pPr>
            <a:r>
              <a:t>Planning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15383" y="1965960"/>
            <a:ext cx="2935224" cy="2587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AI najpierw rozpisuje plan i etapy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dobre przy zadaniach z kilkoma decyzjami po drodze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zmniejsza chaos i liczbę poprawek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51775" y="1508760"/>
            <a:ext cx="32461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51775" y="1508760"/>
            <a:ext cx="3246120" cy="64008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16367" y="1618488"/>
            <a:ext cx="2916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333333"/>
                </a:solidFill>
                <a:latin typeface="Aptos Display"/>
              </a:defRPr>
            </a:pPr>
            <a:r>
              <a:t>Agent /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16367" y="1965960"/>
            <a:ext cx="2935224" cy="2587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zestaw reguł, kontekstu i reuse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dobre do zadań powtarzalnych i standardowych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największa wartość zespołowa i organizacyjna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30752" y="4864608"/>
            <a:ext cx="1496568" cy="841248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a_clean_abstract_3d_cg_graphic_scene_overall_a_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904" y="4937760"/>
            <a:ext cx="1350264" cy="694944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5337048" y="4864608"/>
            <a:ext cx="1496568" cy="841248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a_clean_modern_abstract_3d_conceptual_illustrat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4937760"/>
            <a:ext cx="1350264" cy="694944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943344" y="4864608"/>
            <a:ext cx="1496568" cy="841248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a_clean_high_tech_3d_isometric_angled_infograph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6496" y="4937760"/>
            <a:ext cx="1350264" cy="694944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749808" y="5486400"/>
            <a:ext cx="10789920" cy="621792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5596128"/>
            <a:ext cx="104241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33333"/>
                </a:solidFill>
                <a:latin typeface="Aptos"/>
              </a:defRPr>
            </a:pPr>
            <a:r>
              <a:t>Najważniejsza zasada: dobieraj tryb do zadania. Nie każdy problem wymaga ciężkiej artylerii.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67676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502920"/>
            <a:ext cx="2834640" cy="2834640"/>
          </a:xfrm>
          <a:prstGeom prst="ellipse">
            <a:avLst/>
          </a:prstGeom>
          <a:solidFill>
            <a:srgbClr val="FFD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5074920"/>
            <a:ext cx="2194560" cy="219456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84048"/>
            <a:ext cx="71323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Aptos Display"/>
              </a:defRPr>
            </a:pPr>
            <a:r>
              <a:t>Kiedy zwykłe promptowanie w zupełności wystarcza?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55778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Gdy zadanie jest jednorazowe albo eksploracyjne.</a:t>
            </a:r>
          </a:p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Gdy chcemy szybko zebrać pomysły, hipotezy, pytania lub warianty odpowiedzi.</a:t>
            </a:r>
          </a:p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Gdy liczy się niski koszt przygotowania i nie potrzebujemy pełnej powtarzalności.</a:t>
            </a:r>
          </a:p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Gdy pracujemy na małym fragmencie kontekstu i wynik łatwo zweryfikować człowiekiem.</a:t>
            </a:r>
          </a:p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Gdy celem jest wsparcie myślenia, a nie automatyzacja procesu.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1170432"/>
            <a:ext cx="4709160" cy="347472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_clean_abstract_3d_cg_graphic_scene_overall_a_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1243584"/>
            <a:ext cx="4562856" cy="332841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720840" y="4754880"/>
            <a:ext cx="1496568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_clean_minimalistic_3d_abstract_tech_data_vis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4828032"/>
            <a:ext cx="1350264" cy="72237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327135" y="4754880"/>
            <a:ext cx="1496568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_clean_high_detail_3d_abstract_sci_fi_tech_com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0288" y="4828032"/>
            <a:ext cx="1350264" cy="722375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933432" y="4754880"/>
            <a:ext cx="1496568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_clean_minimal_3d_isometric_oblique_rendered_s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6584" y="4828032"/>
            <a:ext cx="1350264" cy="722375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49808" y="5486400"/>
            <a:ext cx="10789920" cy="621792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596128"/>
            <a:ext cx="104241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33333"/>
                </a:solidFill>
                <a:latin typeface="Aptos"/>
              </a:defRPr>
            </a:pPr>
            <a:r>
              <a:t>Nie budujmy workflow tam, gdzie wystarczy dobra rozmowa z AI.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67676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502920"/>
            <a:ext cx="2834640" cy="2834640"/>
          </a:xfrm>
          <a:prstGeom prst="ellipse">
            <a:avLst/>
          </a:prstGeom>
          <a:solidFill>
            <a:srgbClr val="FFD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5074920"/>
            <a:ext cx="2194560" cy="219456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84048"/>
            <a:ext cx="71323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Aptos Display"/>
              </a:defRPr>
            </a:pPr>
            <a:r>
              <a:t>Po co w ogóle tryb planowania?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170432"/>
            <a:ext cx="4709160" cy="347472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_clean_minimal_3d_isometric_oblique_rendered_s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1243584"/>
            <a:ext cx="4562856" cy="332841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8" y="4754880"/>
            <a:ext cx="1496568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_clean_modern_abstract_3d_conceptual_illustrat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9" y="4828032"/>
            <a:ext cx="1350264" cy="7223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2356104" y="4754880"/>
            <a:ext cx="1496568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_clean_high_tech_3d_isometric_angled_infograph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9256" y="4828032"/>
            <a:ext cx="1350264" cy="72237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962400" y="4754880"/>
            <a:ext cx="1496568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_clean_modern_3d_conceptual_illustration_scen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5552" y="4828032"/>
            <a:ext cx="1350264" cy="7223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50992" y="1417320"/>
            <a:ext cx="54864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Bo wiele zadań nie jest trudnych technicznie, tylko organizacyjnie.</a:t>
            </a:r>
          </a:p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AI może najpierw rozpisać etapy, ryzyka i zależności, a dopiero potem przejść do wykonania.</a:t>
            </a:r>
          </a:p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To pomaga przy zadaniach wieloetapowych, gdzie łatwo pominąć krok.</a:t>
            </a:r>
          </a:p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Plan porządkuje współpracę człowieka z AI i obniża koszt późniejszych poprawek.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5486400"/>
            <a:ext cx="10789920" cy="621792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596128"/>
            <a:ext cx="104241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33333"/>
                </a:solidFill>
                <a:latin typeface="Aptos"/>
              </a:defRPr>
            </a:pPr>
            <a:r>
              <a:t>Praktycznie: najpierw „pokaż plan”, potem „wykonaj krok 1”.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67676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502920"/>
            <a:ext cx="2834640" cy="2834640"/>
          </a:xfrm>
          <a:prstGeom prst="ellipse">
            <a:avLst/>
          </a:prstGeom>
          <a:solidFill>
            <a:srgbClr val="FFD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5074920"/>
            <a:ext cx="2194560" cy="219456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84048"/>
            <a:ext cx="71323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Aptos Display"/>
              </a:defRPr>
            </a:pPr>
            <a:r>
              <a:t>Kiedy agent lub workflow naprawdę ma sens?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55778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Gdy zadanie powtarza się regularnie.</a:t>
            </a:r>
          </a:p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Gdy wynik musi być zgodny z konkretnym standardem projektu lub organizacji.</a:t>
            </a:r>
          </a:p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Gdy po drodze istnieje kilka obowiązkowych kroków, o których łatwo zapomnieć.</a:t>
            </a:r>
          </a:p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Gdy chcemy, żeby z rozwiązania korzystał nie tylko autor promptu, ale cały zespół.</a:t>
            </a:r>
          </a:p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Gdy koszt błędu, pominięcia lub niespójności jest wysoki.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1170432"/>
            <a:ext cx="4709160" cy="347472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_clean_modern_abstract_3d_conceptual_illustra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1243584"/>
            <a:ext cx="4562856" cy="332841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720840" y="4754880"/>
            <a:ext cx="1496568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_clean_abstract_3d_cg_graphic_scene_overall_a_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4828032"/>
            <a:ext cx="1350264" cy="72237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327135" y="4754880"/>
            <a:ext cx="1496568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_clean_high_tech_3d_isometric_angled_infograph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0288" y="4828032"/>
            <a:ext cx="1350264" cy="722375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933432" y="4754880"/>
            <a:ext cx="1496568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wide_3d_rendered_abstract_scene_minimal_corpor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6584" y="4828032"/>
            <a:ext cx="1350264" cy="722375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49808" y="5486400"/>
            <a:ext cx="10789920" cy="621792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596128"/>
            <a:ext cx="104241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33333"/>
                </a:solidFill>
                <a:latin typeface="Aptos"/>
              </a:defRPr>
            </a:pPr>
            <a:r>
              <a:t>Agent opłaca się tam, gdzie chcemy przenieść wiedzę z głowy eksperta do powtarzalnego mechanizmu.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67676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502920"/>
            <a:ext cx="2834640" cy="2834640"/>
          </a:xfrm>
          <a:prstGeom prst="ellipse">
            <a:avLst/>
          </a:prstGeom>
          <a:solidFill>
            <a:srgbClr val="FFD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5074920"/>
            <a:ext cx="2194560" cy="219456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84048"/>
            <a:ext cx="71323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Aptos Display"/>
              </a:defRPr>
            </a:pPr>
            <a:r>
              <a:t>Jak wybrać właściwy tryb?</a:t>
            </a:r>
          </a:p>
          <a:p>
            <a:pPr>
              <a:spcBef>
                <a:spcPts val="600"/>
              </a:spcBef>
              <a:defRPr sz="1250">
                <a:solidFill>
                  <a:srgbClr val="767676"/>
                </a:solidFill>
                <a:latin typeface="Aptos"/>
              </a:defRPr>
            </a:pPr>
            <a:r>
              <a:t>Prosty filtr decyzyjny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9808" y="1417320"/>
          <a:ext cx="731520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3383280"/>
                <a:gridCol w="1097280"/>
              </a:tblGrid>
              <a:tr h="6019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Pytanie</a:t>
                      </a:r>
                    </a:p>
                  </a:txBody>
                  <a:tcPr>
                    <a:solidFill>
                      <a:srgbClr val="FF62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Jeśli odpowiedź brzmi „tak”…</a:t>
                      </a:r>
                    </a:p>
                  </a:txBody>
                  <a:tcPr>
                    <a:solidFill>
                      <a:srgbClr val="FF62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Tryb</a:t>
                      </a:r>
                    </a:p>
                  </a:txBody>
                  <a:tcPr>
                    <a:solidFill>
                      <a:srgbClr val="FF6200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>
                        <a:defRPr sz="112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To zadanie jednorazowe?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2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Nie opłaca się budować stałego workflow.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20" b="1">
                          <a:solidFill>
                            <a:srgbClr val="FF6200"/>
                          </a:solidFill>
                          <a:latin typeface="Aptos"/>
                        </a:defRPr>
                      </a:pPr>
                      <a:r>
                        <a:t>Prompt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>
                        <a:defRPr sz="112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Potrzebny jest plan kilku kroków?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2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Warto najpierw ustalić etapy i zależności.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20" b="1">
                          <a:solidFill>
                            <a:srgbClr val="FF6200"/>
                          </a:solidFill>
                          <a:latin typeface="Aptos"/>
                        </a:defRPr>
                      </a:pPr>
                      <a:r>
                        <a:t>Planning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>
                        <a:defRPr sz="112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To zadanie wraca?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2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Opłaca się inwestycja w reuse.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20" b="1">
                          <a:solidFill>
                            <a:srgbClr val="FF6200"/>
                          </a:solidFill>
                          <a:latin typeface="Aptos"/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>
                        <a:defRPr sz="112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Liczy się zgodność ze standardem?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2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Sama rozmowa może nie wystarczyć.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20" b="1">
                          <a:solidFill>
                            <a:srgbClr val="FF6200"/>
                          </a:solidFill>
                          <a:latin typeface="Aptos"/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>
                        <a:defRPr sz="112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Koszt błędu jest wysoki?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2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Trzeba wymusić kontrolę i przewidywalność.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20" b="1">
                          <a:solidFill>
                            <a:srgbClr val="FF6200"/>
                          </a:solidFill>
                          <a:latin typeface="Aptos"/>
                        </a:defRPr>
                      </a:pPr>
                      <a:r>
                        <a:t>Planning /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412480" y="1417320"/>
            <a:ext cx="2926080" cy="2011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_clean_minimal_3d_isometric_oblique_rendered_s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5632" y="1490472"/>
            <a:ext cx="2779776" cy="186537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12480" y="3611880"/>
            <a:ext cx="2926080" cy="150876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_clean_modern_abstract_3d_conceptual_illustrat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3685032"/>
            <a:ext cx="2779776" cy="136245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49808" y="5486400"/>
            <a:ext cx="10789920" cy="621792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5596128"/>
            <a:ext cx="104241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33333"/>
                </a:solidFill>
                <a:latin typeface="Aptos"/>
              </a:defRPr>
            </a:pPr>
            <a:r>
              <a:t>„Czasem zwykłe promptowanie wystarczy” to nie słabość — to oznaka właściwego doboru narzędzia do potrzeby.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67676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502920"/>
            <a:ext cx="2834640" cy="2834640"/>
          </a:xfrm>
          <a:prstGeom prst="ellipse">
            <a:avLst/>
          </a:prstGeom>
          <a:solidFill>
            <a:srgbClr val="FFD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5074920"/>
            <a:ext cx="2194560" cy="219456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84048"/>
            <a:ext cx="71323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Aptos Display"/>
              </a:defRPr>
            </a:pPr>
            <a:r>
              <a:t>Przykład zmiany poziomu rozmowy z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55778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Poziom techniczny: „stwórz klasę, mapper, repozytorium, konfigurację i test”.</a:t>
            </a:r>
          </a:p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Poziom intencji: „dodaj obsługę nowego elementu domeny / nowej tabeli / nowej integracji”.</a:t>
            </a:r>
          </a:p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Jeśli AI zna nasz workflow, potrafi samo odtworzyć potrzebne kroki.</a:t>
            </a:r>
          </a:p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To skraca instrukcję wejściową, zmniejsza liczbę iteracji i zwiększa spójność wyniku.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1170432"/>
            <a:ext cx="4709160" cy="347472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_clean_high_detail_3d_abstract_sci_fi_tech_com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1243584"/>
            <a:ext cx="4562856" cy="332841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720840" y="4754880"/>
            <a:ext cx="1496568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_clean_modern_abstract_3d_conceptual_illustrat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4828032"/>
            <a:ext cx="1350264" cy="72237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327135" y="4754880"/>
            <a:ext cx="1496568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_clean_minimalistic_3d_abstract_tech_data_vis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0288" y="4828032"/>
            <a:ext cx="1350264" cy="722375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933432" y="4754880"/>
            <a:ext cx="1496568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_clean_high_tech_3d_isometric_angled_infograph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6584" y="4828032"/>
            <a:ext cx="1350264" cy="722375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49808" y="5486400"/>
            <a:ext cx="10789920" cy="621792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596128"/>
            <a:ext cx="104241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33333"/>
                </a:solidFill>
                <a:latin typeface="Aptos"/>
              </a:defRPr>
            </a:pPr>
            <a:r>
              <a:t>Sedno: przejście z mówienia „jak” do mówienia „co chcemy osiągnąć”.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67676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502920"/>
            <a:ext cx="2834640" cy="2834640"/>
          </a:xfrm>
          <a:prstGeom prst="ellipse">
            <a:avLst/>
          </a:prstGeom>
          <a:solidFill>
            <a:srgbClr val="FFD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5074920"/>
            <a:ext cx="2194560" cy="219456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84048"/>
            <a:ext cx="71323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Aptos Display"/>
              </a:defRPr>
            </a:pPr>
            <a:r>
              <a:t>Co właściwie „niesie” taki agent?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170432"/>
            <a:ext cx="4709160" cy="347472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_clean_high_tech_3d_isometric_angled_inf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1243584"/>
            <a:ext cx="4562856" cy="332841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8" y="4754880"/>
            <a:ext cx="1496568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_clean_abstract_3d_cg_graphic_scene_overall_a_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9" y="4828032"/>
            <a:ext cx="1350264" cy="7223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2356104" y="4754880"/>
            <a:ext cx="1496568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_clean_minimal_3d_isometric_oblique_rendered_s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9256" y="4828032"/>
            <a:ext cx="1350264" cy="72237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962400" y="4754880"/>
            <a:ext cx="1496568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_clean_modern_3d_conceptual_illustration_scen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5552" y="4828032"/>
            <a:ext cx="1350264" cy="7223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50992" y="1417320"/>
            <a:ext cx="54864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Wiedzę o architekturze projektu i o tym, gdzie powinny trafiać elementy.</a:t>
            </a:r>
          </a:p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Nazewnictwo, konwencje i obowiązkowe artefakty.</a:t>
            </a:r>
          </a:p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Kolejność kroków i typowe zależności między nimi.</a:t>
            </a:r>
          </a:p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Wykonywalną dokumentację — nie tylko opis procesu, ale jego praktyczne wykonanie.</a:t>
            </a:r>
          </a:p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Część wiedzy domenowej, która wcześniej była ukryta w doświadczeniu kilku osób.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5486400"/>
            <a:ext cx="10789920" cy="621792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596128"/>
            <a:ext cx="104241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33333"/>
                </a:solidFill>
                <a:latin typeface="Aptos"/>
              </a:defRPr>
            </a:pPr>
            <a:r>
              <a:t>Dlatego agent nie jest wyłącznie generatorem. Jest nośnikiem standardu.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67676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502920"/>
            <a:ext cx="2834640" cy="2834640"/>
          </a:xfrm>
          <a:prstGeom prst="ellipse">
            <a:avLst/>
          </a:prstGeom>
          <a:solidFill>
            <a:srgbClr val="FFD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5074920"/>
            <a:ext cx="2194560" cy="219456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84048"/>
            <a:ext cx="71323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Aptos Display"/>
              </a:defRPr>
            </a:pPr>
            <a:r>
              <a:t>Korzyści krótkoterminowe — to, co widać już dziś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55778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Większa spójność generowanego wyniku.</a:t>
            </a:r>
          </a:p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Mniej pominiętych kroków i mniej błędów implementacyjnych.</a:t>
            </a:r>
          </a:p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Szybszy onboarding nowych osób.</a:t>
            </a:r>
          </a:p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Mniej iteracji z AI i lepsza jakość pierwszego rezultatu.</a:t>
            </a:r>
          </a:p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Łatwiejszy review, bo wynik jest bardziej przewidywalny.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1170432"/>
            <a:ext cx="4709160" cy="347472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_clean_modern_abstract_3d_conceptual_illustra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1243584"/>
            <a:ext cx="4562856" cy="332841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720840" y="4754880"/>
            <a:ext cx="1496568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_clean_minimalistic_3d_abstract_tech_data_vis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4828032"/>
            <a:ext cx="1350264" cy="72237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327135" y="4754880"/>
            <a:ext cx="1496568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_clean_high_detail_3d_abstract_sci_fi_tech_com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0288" y="4828032"/>
            <a:ext cx="1350264" cy="722375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933432" y="4754880"/>
            <a:ext cx="1496568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_clean_abstract_3d_cg_graphic_scene_overall_a_m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6584" y="4828032"/>
            <a:ext cx="1350264" cy="722375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49808" y="5486400"/>
            <a:ext cx="10789920" cy="621792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596128"/>
            <a:ext cx="104241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33333"/>
                </a:solidFill>
                <a:latin typeface="Aptos"/>
              </a:defRPr>
            </a:pPr>
            <a:r>
              <a:t>Biznesowo: mniej chaosu, mniej zależności od wiedzy ustnej, więcej przewidywalności.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67676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502920"/>
            <a:ext cx="2834640" cy="2834640"/>
          </a:xfrm>
          <a:prstGeom prst="ellipse">
            <a:avLst/>
          </a:prstGeom>
          <a:solidFill>
            <a:srgbClr val="FFD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5074920"/>
            <a:ext cx="2194560" cy="219456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84048"/>
            <a:ext cx="71323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Aptos Display"/>
              </a:defRPr>
            </a:pPr>
            <a:r>
              <a:t>Korzyści strategiczne — to, co skaluje organizację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55778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Standaryzacja między zespołami i projektami.</a:t>
            </a:r>
          </a:p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Mniejsza zależność od pojedynczych ekspertów.</a:t>
            </a:r>
          </a:p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Łatwiejszy transfer wiedzy i szybsze wdrażanie nowych osób.</a:t>
            </a:r>
          </a:p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Mniejsze ryzyko dryfu architektonicznego w czasie.</a:t>
            </a:r>
          </a:p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Szansa na budowę projektów referencyjnych i reusable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1170432"/>
            <a:ext cx="4709160" cy="347472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ide_3d_rendered_abstract_scene_minimal_corpo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1243584"/>
            <a:ext cx="4562856" cy="332841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720840" y="4754880"/>
            <a:ext cx="1496568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_clean_high_tech_3d_isometric_angled_infograph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4828032"/>
            <a:ext cx="1350264" cy="72237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327135" y="4754880"/>
            <a:ext cx="1496568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_clean_modern_abstract_3d_conceptual_illustrat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0288" y="4828032"/>
            <a:ext cx="1350264" cy="722375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933432" y="4754880"/>
            <a:ext cx="1496568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_clean_modern_3d_conceptual_illustration_scen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6584" y="4828032"/>
            <a:ext cx="1350264" cy="722375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49808" y="5486400"/>
            <a:ext cx="10789920" cy="621792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596128"/>
            <a:ext cx="104241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33333"/>
                </a:solidFill>
                <a:latin typeface="Aptos"/>
              </a:defRPr>
            </a:pPr>
            <a:r>
              <a:t>Najciekawsza zmiana jest organizacyjna: AI zaczyna przechowywać część sposobu pracy firmy.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67676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clean_high_tech_3d_isometric_angled_inf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2120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44475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200"/>
                </a:solidFill>
                <a:latin typeface="Aptos"/>
              </a:defRPr>
            </a:pPr>
            <a:r>
              <a:t>CZĘŚĆ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1737360"/>
            <a:ext cx="4480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Aptos"/>
              </a:defRPr>
            </a:pPr>
            <a:r>
              <a:t>AI w całym SDLC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9260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67676"/>
                </a:solidFill>
                <a:latin typeface="Aptos"/>
              </a:defRPr>
            </a:pPr>
            <a:r>
              <a:t>Krótka zmiana perspektywy przed kolejną częścią.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67676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502920"/>
            <a:ext cx="2834640" cy="2834640"/>
          </a:xfrm>
          <a:prstGeom prst="ellipse">
            <a:avLst/>
          </a:prstGeom>
          <a:solidFill>
            <a:srgbClr val="FFD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5074920"/>
            <a:ext cx="2194560" cy="219456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84048"/>
            <a:ext cx="71323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Aptos Display"/>
              </a:defRPr>
            </a:pPr>
            <a:r>
              <a:t>1) Discovery, analiza i projektowanie</a:t>
            </a:r>
          </a:p>
          <a:p>
            <a:pPr>
              <a:spcBef>
                <a:spcPts val="600"/>
              </a:spcBef>
              <a:defRPr sz="1250">
                <a:solidFill>
                  <a:srgbClr val="767676"/>
                </a:solidFill>
                <a:latin typeface="Aptos"/>
              </a:defRPr>
            </a:pPr>
            <a:r>
              <a:t>Początek cyklu życia rozwiązania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463040"/>
            <a:ext cx="52120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463040"/>
            <a:ext cx="5212080" cy="64008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48828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333333"/>
                </a:solidFill>
                <a:latin typeface="Aptos Display"/>
              </a:defRPr>
            </a:pPr>
            <a:r>
              <a:t>Gdzie AI pomaga?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901184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streszczanie materiałów wejściowych i porządkowanie wymagań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tworzenie list pytań, ryzyk i brakujących danych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porównywanie wariantów rozwiązania i trade-offów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przygotowanie pierwszej wersji planu działania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463040"/>
            <a:ext cx="52120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6208" y="1463040"/>
            <a:ext cx="5212080" cy="64008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72768"/>
            <a:ext cx="48828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333333"/>
                </a:solidFill>
                <a:latin typeface="Aptos Display"/>
              </a:defRPr>
            </a:pPr>
            <a:r>
              <a:t>Na co uważać?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4901184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AI nie zna kontekstu organizacji bez doprecyzowania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może brzmieć pewnie nawet przy niepełnych danych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wymaga weryfikacji przez właściciela procesu lub eksperta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4864608"/>
            <a:ext cx="1542287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a_clean_minimalistic_3d_abstract_tech_data_vis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4937760"/>
            <a:ext cx="1395984" cy="722375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309616" y="4864608"/>
            <a:ext cx="1542287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_clean_abstract_3d_cg_graphic_scene_overall_a_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2768" y="4937760"/>
            <a:ext cx="1395984" cy="722375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961632" y="4864608"/>
            <a:ext cx="1542287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a_clean_high_tech_3d_isometric_angled_infograph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4784" y="4937760"/>
            <a:ext cx="1395984" cy="722375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749808" y="5486400"/>
            <a:ext cx="10789920" cy="621792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596128"/>
            <a:ext cx="104241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33333"/>
                </a:solidFill>
                <a:latin typeface="Aptos"/>
              </a:defRPr>
            </a:pPr>
            <a:r>
              <a:t>To dobry punkt wejścia dla biznesu: AI porządkuje informacje zanim jeszcze zaczniemy budować.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67676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502920"/>
            <a:ext cx="2834640" cy="2834640"/>
          </a:xfrm>
          <a:prstGeom prst="ellipse">
            <a:avLst/>
          </a:prstGeom>
          <a:solidFill>
            <a:srgbClr val="FFD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5074920"/>
            <a:ext cx="2194560" cy="219456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84048"/>
            <a:ext cx="71323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Aptos Display"/>
              </a:defRPr>
            </a:pPr>
            <a:r>
              <a:t>2) Build, testy i review</a:t>
            </a:r>
          </a:p>
          <a:p>
            <a:pPr>
              <a:spcBef>
                <a:spcPts val="600"/>
              </a:spcBef>
              <a:defRPr sz="1250">
                <a:solidFill>
                  <a:srgbClr val="767676"/>
                </a:solidFill>
                <a:latin typeface="Aptos"/>
              </a:defRPr>
            </a:pPr>
            <a:r>
              <a:t>Środek SDLC — najczęściej kojarzony z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463040"/>
            <a:ext cx="52120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463040"/>
            <a:ext cx="5212080" cy="64008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48828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333333"/>
                </a:solidFill>
                <a:latin typeface="Aptos Display"/>
              </a:defRPr>
            </a:pPr>
            <a:r>
              <a:t>Przykładowe zastosowania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901184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szkice implementacji i refactoring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propozycje scenariuszy testowych i danych testowych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wspieranie review: co sprawdzić, czego może brakować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tworzenie checklist jakościowych i technicznych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463040"/>
            <a:ext cx="52120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6208" y="1463040"/>
            <a:ext cx="5212080" cy="64008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72768"/>
            <a:ext cx="48828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333333"/>
                </a:solidFill>
                <a:latin typeface="Aptos Display"/>
              </a:defRPr>
            </a:pPr>
            <a:r>
              <a:t>Dlaczego to działa?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4901184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tu jest dużo pracy powtarzalnej, ale opartej o wzorce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łatwo pokazać AI przykłady i oczekiwany format wyniku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człowiek może stosunkowo szybko zweryfikować rezultat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4864608"/>
            <a:ext cx="1542287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a_clean_modern_abstract_3d_conceptual_illustra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4937760"/>
            <a:ext cx="1395984" cy="722375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309616" y="4864608"/>
            <a:ext cx="1542287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_clean_abstract_3d_cg_graphic_scene_overall_a_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2768" y="4937760"/>
            <a:ext cx="1395984" cy="722375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961632" y="4864608"/>
            <a:ext cx="1542287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a_clean_high_tech_3d_isometric_angled_infograph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4784" y="4937760"/>
            <a:ext cx="1395984" cy="722375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749808" y="5486400"/>
            <a:ext cx="10789920" cy="621792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596128"/>
            <a:ext cx="104241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33333"/>
                </a:solidFill>
                <a:latin typeface="Aptos"/>
              </a:defRPr>
            </a:pPr>
            <a:r>
              <a:t>To obszar widoczny najbardziej, ale nie jedyny, w którym AI daje wartość.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67676"/>
                </a:solidFill>
                <a:latin typeface="Aptos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502920"/>
            <a:ext cx="2834640" cy="2834640"/>
          </a:xfrm>
          <a:prstGeom prst="ellipse">
            <a:avLst/>
          </a:prstGeom>
          <a:solidFill>
            <a:srgbClr val="FFD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5074920"/>
            <a:ext cx="2194560" cy="219456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84048"/>
            <a:ext cx="71323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Aptos Display"/>
              </a:defRPr>
            </a:pPr>
            <a:r>
              <a:t>3) Release, utrzymanie i knowledge work</a:t>
            </a:r>
          </a:p>
          <a:p>
            <a:pPr>
              <a:spcBef>
                <a:spcPts val="600"/>
              </a:spcBef>
              <a:defRPr sz="1250">
                <a:solidFill>
                  <a:srgbClr val="767676"/>
                </a:solidFill>
                <a:latin typeface="Aptos"/>
              </a:defRPr>
            </a:pPr>
            <a:r>
              <a:t>AI nie kończy się na developmentcie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463040"/>
            <a:ext cx="52120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463040"/>
            <a:ext cx="5212080" cy="64008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48828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333333"/>
                </a:solidFill>
                <a:latin typeface="Aptos Display"/>
              </a:defRPr>
            </a:pPr>
            <a:r>
              <a:t>AI może wspierać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901184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tworzenie release notes i checklist gotowości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porządkowanie informacji po incydencie lub problemie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szybsze przygotowanie materiałów onboardingowych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komunikację i podsumowania dla różnych odbiorców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463040"/>
            <a:ext cx="52120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6208" y="1463040"/>
            <a:ext cx="5212080" cy="64008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72768"/>
            <a:ext cx="48828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333333"/>
                </a:solidFill>
                <a:latin typeface="Aptos Display"/>
              </a:defRPr>
            </a:pPr>
            <a:r>
              <a:t>Warto pamiętać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4901184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to obszary często niedoceniane, a biznesowo bardzo ważne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dają dużo małych oszczędności, które sumują się w czasie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są świetnym punktem wejścia dla mniej technicznych zespołów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4864608"/>
            <a:ext cx="1542287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wide_3d_rendered_abstract_scene_minimal_corpo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4937760"/>
            <a:ext cx="1395984" cy="722375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309616" y="4864608"/>
            <a:ext cx="1542287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_clean_abstract_3d_cg_graphic_scene_overall_a_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2768" y="4937760"/>
            <a:ext cx="1395984" cy="722375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961632" y="4864608"/>
            <a:ext cx="1542287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a_clean_high_tech_3d_isometric_angled_infograph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4784" y="4937760"/>
            <a:ext cx="1395984" cy="722375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749808" y="5486400"/>
            <a:ext cx="10789920" cy="621792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596128"/>
            <a:ext cx="104241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33333"/>
                </a:solidFill>
                <a:latin typeface="Aptos"/>
              </a:defRPr>
            </a:pPr>
            <a:r>
              <a:t>Duża część realnej wartości AI pojawia się tam, gdzie pracujemy na wiedzy, a nie tylko na kodzie.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67676"/>
                </a:solidFill>
                <a:latin typeface="Aptos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clean_modern_3d_conceptual_illustration_scen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212080" cy="2560320"/>
          </a:xfrm>
          <a:prstGeom prst="roundRect">
            <a:avLst/>
          </a:prstGeom>
          <a:solidFill>
            <a:srgbClr val="333333"/>
          </a:solidFill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44475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7BF"/>
                </a:solidFill>
                <a:latin typeface="Aptos"/>
              </a:defRPr>
            </a:pPr>
            <a:r>
              <a:t>CZĘŚĆ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1737360"/>
            <a:ext cx="4480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Ograniczenia, bezpieczeństwo i tempo wdrożeń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9260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Krótka zmiana perspektywy przed kolejną częścią.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67676"/>
                </a:solidFill>
                <a:latin typeface="Aptos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502920"/>
            <a:ext cx="2834640" cy="2834640"/>
          </a:xfrm>
          <a:prstGeom prst="ellipse">
            <a:avLst/>
          </a:prstGeom>
          <a:solidFill>
            <a:srgbClr val="FFD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5074920"/>
            <a:ext cx="2194560" cy="219456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84048"/>
            <a:ext cx="71323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Aptos Display"/>
              </a:defRPr>
            </a:pPr>
            <a:r>
              <a:t>Dlaczego w sektorze bankowym AI wdraża się wolniej?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55778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Bankowość działa w środowisku wysokiego ryzyka: dane, pieniądze, zgodność i zaufanie klientów.</a:t>
            </a:r>
          </a:p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Każde nowe narzędzie musi być ocenione nie tylko pod kątem funkcji, ale też bezpieczeństwa, audytowalności i zgodności.</a:t>
            </a:r>
          </a:p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Dlatego tempo jest stabilniejsze i wolniejsze niż w mniej regulowanych branżach.</a:t>
            </a:r>
          </a:p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To nie brak odwagi — to cena odpowiedzialności i kontroli ryzyka.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1170432"/>
            <a:ext cx="4709160" cy="347472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_clean_modern_3d_conceptual_illustration_scen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1243584"/>
            <a:ext cx="4562856" cy="332841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720840" y="4754880"/>
            <a:ext cx="1496568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wide_3d_rendered_abstract_scene_minimal_corpo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4828032"/>
            <a:ext cx="1350264" cy="72237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327135" y="4754880"/>
            <a:ext cx="1496568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_clean_high_tech_3d_isometric_angled_infograph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0288" y="4828032"/>
            <a:ext cx="1350264" cy="722375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933432" y="4754880"/>
            <a:ext cx="1496568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_clean_modern_abstract_3d_conceptual_illustrat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6584" y="4828032"/>
            <a:ext cx="1350264" cy="722375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49808" y="5486400"/>
            <a:ext cx="10789920" cy="621792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596128"/>
            <a:ext cx="104241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33333"/>
                </a:solidFill>
                <a:latin typeface="Aptos"/>
              </a:defRPr>
            </a:pPr>
            <a:r>
              <a:t>W sektorach regulowanych wolniej nie znaczy gorzej. Często oznacza dojrzalej.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67676"/>
                </a:solidFill>
                <a:latin typeface="Aptos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502920"/>
            <a:ext cx="2834640" cy="2834640"/>
          </a:xfrm>
          <a:prstGeom prst="ellipse">
            <a:avLst/>
          </a:prstGeom>
          <a:solidFill>
            <a:srgbClr val="FFD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5074920"/>
            <a:ext cx="2194560" cy="219456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84048"/>
            <a:ext cx="71323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Aptos Display"/>
              </a:defRPr>
            </a:pPr>
            <a:r>
              <a:t>Czego nie możemy dziś używać: MCP i podobnych modeli rozszerzania dostępu</a:t>
            </a:r>
          </a:p>
          <a:p>
            <a:pPr>
              <a:spcBef>
                <a:spcPts val="600"/>
              </a:spcBef>
              <a:defRPr sz="1250">
                <a:solidFill>
                  <a:srgbClr val="767676"/>
                </a:solidFill>
                <a:latin typeface="Aptos"/>
              </a:defRPr>
            </a:pPr>
            <a:r>
              <a:t>Przykład ograniczenia wynikającego z bezpieczeństwa i kontroli danych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44752"/>
            <a:ext cx="54864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MCP i podobne mechanizmy rozszerzają model o nowe narzędzia, źródła i akcje.</a:t>
            </a:r>
          </a:p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W praktyce oznacza to szerszy przepływ danych, większą powierzchnię ataku i trudniejszą ocenę ryzyka.</a:t>
            </a:r>
          </a:p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W środowisku bankowym kluczowe są: kontrola dostępu, audytowalność, przewidywalność i minimalizacja ekspozycji danych.</a:t>
            </a:r>
          </a:p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Dlatego takie rozwiązania często nie są dopuszczane na wczesnym etapie adopcji.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188720"/>
            <a:ext cx="4892040" cy="265176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_clean_modern_3d_conceptual_illustration_scen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1261872"/>
            <a:ext cx="4745736" cy="250545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720840" y="4069080"/>
            <a:ext cx="4617720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20840" y="4069080"/>
            <a:ext cx="4617720" cy="64008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85431" y="4178808"/>
            <a:ext cx="4288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333333"/>
                </a:solidFill>
                <a:latin typeface="Aptos Display"/>
              </a:defRPr>
            </a:pPr>
            <a:r>
              <a:t>Jakie są skutki?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5431" y="4526280"/>
            <a:ext cx="4306824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mniej automatycznego „podpinania” narzędzi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więcej pracy na zamkniętym, kontrolowanym zestawie możliwości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wolniejsze eksperymenty, ale większa kontrola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5486400"/>
            <a:ext cx="10789920" cy="621792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5596128"/>
            <a:ext cx="104241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33333"/>
                </a:solidFill>
                <a:latin typeface="Aptos"/>
              </a:defRPr>
            </a:pPr>
            <a:r>
              <a:t>Im szerszy dostęp modelu do systemów i narzędzi, tym większa odpowiedzialność po stronie organizacji.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67676"/>
                </a:solidFill>
                <a:latin typeface="Aptos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502920"/>
            <a:ext cx="2834640" cy="2834640"/>
          </a:xfrm>
          <a:prstGeom prst="ellipse">
            <a:avLst/>
          </a:prstGeom>
          <a:solidFill>
            <a:srgbClr val="FFD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5074920"/>
            <a:ext cx="2194560" cy="219456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84048"/>
            <a:ext cx="71323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Aptos Display"/>
              </a:defRPr>
            </a:pPr>
            <a:r>
              <a:t>Czego nie możemy dziś używać: niesprawdzonych „nowych rozwiązań”</a:t>
            </a:r>
          </a:p>
          <a:p>
            <a:pPr>
              <a:spcBef>
                <a:spcPts val="600"/>
              </a:spcBef>
              <a:defRPr sz="1250">
                <a:solidFill>
                  <a:srgbClr val="767676"/>
                </a:solidFill>
                <a:latin typeface="Aptos"/>
              </a:defRPr>
            </a:pPr>
            <a:r>
              <a:t>Nowość nie oznacza jeszcze dojrzałości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44752"/>
            <a:ext cx="54864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Wiele świeżych narzędzi AI wygląda atrakcyjnie, ale nie ma jeszcze dojrzałego modelu bezpieczeństwa ani governance.</a:t>
            </a:r>
          </a:p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Nowe rozwiązanie może oznaczać niejasny sposób przetwarzania danych, brak audytu albo wysokie ryzyko vendor lock-in.</a:t>
            </a:r>
          </a:p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W bankowości nie wystarczy „bo działa” — potrzebne są ocena ryzyka, przegląd prawny, zgodność i akceptacja organizacyjna.</a:t>
            </a:r>
          </a:p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To oznacza, że wybieramy rozwiązania bardziej sprawdzone, nawet jeśli są mniej efektowne.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188720"/>
            <a:ext cx="4892040" cy="265176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_clean_high_detail_3d_abstract_sci_fi_tech_com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1261872"/>
            <a:ext cx="4745736" cy="250545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720840" y="4069080"/>
            <a:ext cx="4617720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20840" y="4069080"/>
            <a:ext cx="4617720" cy="64008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85431" y="4178808"/>
            <a:ext cx="4288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333333"/>
                </a:solidFill>
                <a:latin typeface="Aptos Display"/>
              </a:defRPr>
            </a:pPr>
            <a:r>
              <a:t>Jakie są skutki?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5431" y="4526280"/>
            <a:ext cx="4306824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wolniejsza adopcja nowinek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mniej „eksperymentów na żywym organizmie”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większy nacisk na stabilność niż na pierwszy ruch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5486400"/>
            <a:ext cx="10789920" cy="621792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5596128"/>
            <a:ext cx="104241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33333"/>
                </a:solidFill>
                <a:latin typeface="Aptos"/>
              </a:defRPr>
            </a:pPr>
            <a:r>
              <a:t>W branżach regulowanych przewaga nie wynika z bycia pierwszym za wszelką cenę — częściej z bycia bezpiecznie skutecznym.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67676"/>
                </a:solidFill>
                <a:latin typeface="Aptos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502920"/>
            <a:ext cx="2834640" cy="2834640"/>
          </a:xfrm>
          <a:prstGeom prst="ellipse">
            <a:avLst/>
          </a:prstGeom>
          <a:solidFill>
            <a:srgbClr val="FFD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5074920"/>
            <a:ext cx="2194560" cy="219456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84048"/>
            <a:ext cx="71323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Aptos Display"/>
              </a:defRPr>
            </a:pPr>
            <a:r>
              <a:t>Czego nie możemy dziś używać: prywatnych kont i nieautoryzowanych narzędzi AI</a:t>
            </a:r>
          </a:p>
          <a:p>
            <a:pPr>
              <a:spcBef>
                <a:spcPts val="600"/>
              </a:spcBef>
              <a:defRPr sz="1250">
                <a:solidFill>
                  <a:srgbClr val="767676"/>
                </a:solidFill>
                <a:latin typeface="Aptos"/>
              </a:defRPr>
            </a:pPr>
            <a:r>
              <a:t>Granica między wygodą a ryzykiem jest tutaj bardzo konkretna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44752"/>
            <a:ext cx="54864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Nie możemy przenosić pracy na prywatne konta lub prywatne narzędzia tylko dlatego, że są szybsze lub mają ciekawsze funkcje.</a:t>
            </a:r>
          </a:p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Taki ruch oznacza utratę kontroli nad przetwarzaniem danych, retencją, uprawnieniami i audytem.</a:t>
            </a:r>
          </a:p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Organizacja musi wiedzieć, gdzie trafia kontekst, kto ma do niego dostęp i na jakich zasadach jest przechowywany.</a:t>
            </a:r>
          </a:p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Dlatego korzystamy wyłącznie z narzędzi zaakceptowanych i objętych politykami firmy.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188720"/>
            <a:ext cx="4892040" cy="265176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ide_3d_rendered_abstract_scene_minimal_corpo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1261872"/>
            <a:ext cx="4745736" cy="250545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720840" y="4069080"/>
            <a:ext cx="4617720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20840" y="4069080"/>
            <a:ext cx="4617720" cy="64008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85431" y="4178808"/>
            <a:ext cx="4288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333333"/>
                </a:solidFill>
                <a:latin typeface="Aptos Display"/>
              </a:defRPr>
            </a:pPr>
            <a:r>
              <a:t>Jakie są skutki?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5431" y="4526280"/>
            <a:ext cx="4306824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mniejsza swoboda wyboru narzędzia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czasem mniejsza funkcjonalność niż na rynku konsumenckim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za to większa zgodność i bezpieczeństwo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5486400"/>
            <a:ext cx="10789920" cy="621792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5596128"/>
            <a:ext cx="104241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33333"/>
                </a:solidFill>
                <a:latin typeface="Aptos"/>
              </a:defRPr>
            </a:pPr>
            <a:r>
              <a:t>To klasyczny kompromis: mniej wolności indywidualnej, więcej odpowiedzialności organizacyjnej.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67676"/>
                </a:solidFill>
                <a:latin typeface="Aptos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502920"/>
            <a:ext cx="2834640" cy="2834640"/>
          </a:xfrm>
          <a:prstGeom prst="ellipse">
            <a:avLst/>
          </a:prstGeom>
          <a:solidFill>
            <a:srgbClr val="FFD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5074920"/>
            <a:ext cx="2194560" cy="219456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84048"/>
            <a:ext cx="71323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Aptos Display"/>
              </a:defRPr>
            </a:pPr>
            <a:r>
              <a:t>Inne typowe ograniczenia w środowisku o wysokim security</a:t>
            </a:r>
          </a:p>
          <a:p>
            <a:pPr>
              <a:spcBef>
                <a:spcPts val="600"/>
              </a:spcBef>
              <a:defRPr sz="1250">
                <a:solidFill>
                  <a:srgbClr val="767676"/>
                </a:solidFill>
                <a:latin typeface="Aptos"/>
              </a:defRPr>
            </a:pPr>
            <a:r>
              <a:t>Nie wszystko, co technicznie możliwe, jest organizacyjnie dopuszczalne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463040"/>
            <a:ext cx="52120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463040"/>
            <a:ext cx="5212080" cy="64008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48828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333333"/>
                </a:solidFill>
                <a:latin typeface="Aptos Display"/>
              </a:defRPr>
            </a:pPr>
            <a:r>
              <a:t>Przykłady ograniczeń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901184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brak wklejania wrażliwych danych produkcyjnych do promptów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brak samodzielnych akcji AI na systemach bez dodatkowej kontroli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brak instalowania nieautoryzowanych wtyczek i rozszerzeń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brak swobodnego korzystania z otwartych źródeł bez oceny ryzyka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463040"/>
            <a:ext cx="52120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6208" y="1463040"/>
            <a:ext cx="5212080" cy="64008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72768"/>
            <a:ext cx="48828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333333"/>
                </a:solidFill>
                <a:latin typeface="Aptos Display"/>
              </a:defRPr>
            </a:pPr>
            <a:r>
              <a:t>Co to oznacza w praktyce?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4901184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więcej anonimizacji i sanitizacji danych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więcej pracy w kontrolowanym środowisku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większą rolę governance, security i compliance w adopcji AI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potrzebę cierpliwości przy wdrażaniu nowych możliwości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4864608"/>
            <a:ext cx="1542287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a_clean_modern_3d_conceptual_illustration_scen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4937760"/>
            <a:ext cx="1395984" cy="722375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309616" y="4864608"/>
            <a:ext cx="1542287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_clean_abstract_3d_cg_graphic_scene_overall_a_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2768" y="4937760"/>
            <a:ext cx="1395984" cy="722375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961632" y="4864608"/>
            <a:ext cx="1542287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a_clean_high_tech_3d_isometric_angled_infograph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4784" y="4937760"/>
            <a:ext cx="1395984" cy="722375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749808" y="5486400"/>
            <a:ext cx="10789920" cy="621792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596128"/>
            <a:ext cx="104241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33333"/>
                </a:solidFill>
                <a:latin typeface="Aptos"/>
              </a:defRPr>
            </a:pPr>
            <a:r>
              <a:t>Każde z tych ograniczeń zmniejsza wygodę — ale jednocześnie obniża ryzyko.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67676"/>
                </a:solidFill>
                <a:latin typeface="Aptos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502920"/>
            <a:ext cx="2834640" cy="2834640"/>
          </a:xfrm>
          <a:prstGeom prst="ellipse">
            <a:avLst/>
          </a:prstGeom>
          <a:solidFill>
            <a:srgbClr val="FFD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5074920"/>
            <a:ext cx="2194560" cy="219456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84048"/>
            <a:ext cx="71323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Aptos Display"/>
              </a:defRPr>
            </a:pPr>
            <a:r>
              <a:t>Każde ograniczenie niesie koszt — i cel</a:t>
            </a:r>
          </a:p>
          <a:p>
            <a:pPr>
              <a:spcBef>
                <a:spcPts val="600"/>
              </a:spcBef>
              <a:defRPr sz="1250">
                <a:solidFill>
                  <a:srgbClr val="767676"/>
                </a:solidFill>
                <a:latin typeface="Aptos"/>
              </a:defRPr>
            </a:pPr>
            <a:r>
              <a:t>Warto to nazwać wprost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463040"/>
            <a:ext cx="52120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463040"/>
            <a:ext cx="5212080" cy="64008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48828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333333"/>
                </a:solidFill>
                <a:latin typeface="Aptos Display"/>
              </a:defRPr>
            </a:pPr>
            <a:r>
              <a:t>Koszty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901184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wolniejsze eksperymentowanie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mniejszy wachlarz narzędzi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więcej pracy ręcznej i proceduralnej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większa zależność od wewnętrznych procesów akceptacji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463040"/>
            <a:ext cx="52120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6208" y="1463040"/>
            <a:ext cx="5212080" cy="64008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72768"/>
            <a:ext cx="48828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333333"/>
                </a:solidFill>
                <a:latin typeface="Aptos Display"/>
              </a:defRPr>
            </a:pPr>
            <a:r>
              <a:t>Korzyści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4901184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większa kontrola nad danymi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wyższa audytowalność i zgodność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mniejsze ryzyko przypadkowych wycieków lub błędnych działań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większa szansa na bezpieczną, długoterminową adopcję 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4864608"/>
            <a:ext cx="1542287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a_clean_high_tech_3d_isometric_angled_inf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4937760"/>
            <a:ext cx="1395984" cy="722375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309616" y="4864608"/>
            <a:ext cx="1542287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_clean_abstract_3d_cg_graphic_scene_overall_a_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2768" y="4937760"/>
            <a:ext cx="1395984" cy="722375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961632" y="4864608"/>
            <a:ext cx="1542287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a_clean_high_tech_3d_isometric_angled_inf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4784" y="4937760"/>
            <a:ext cx="1395984" cy="722375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749808" y="5486400"/>
            <a:ext cx="10789920" cy="621792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596128"/>
            <a:ext cx="104241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33333"/>
                </a:solidFill>
                <a:latin typeface="Aptos"/>
              </a:defRPr>
            </a:pPr>
            <a:r>
              <a:t>Dojrzałe wdrażanie AI nie polega na likwidowaniu ograniczeń. Polega na rozumieniu, po co one istnieją.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67676"/>
                </a:solidFill>
                <a:latin typeface="Aptos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clean_modern_abstract_3d_conceptual_illustra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2120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44475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200"/>
                </a:solidFill>
                <a:latin typeface="Aptos"/>
              </a:defRPr>
            </a:pPr>
            <a:r>
              <a:t>CZĘŚĆ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1737360"/>
            <a:ext cx="4480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Aptos"/>
              </a:defRPr>
            </a:pPr>
            <a:r>
              <a:t>Tokeny, praktyki i kierunek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9260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67676"/>
                </a:solidFill>
                <a:latin typeface="Aptos"/>
              </a:defRPr>
            </a:pPr>
            <a:r>
              <a:t>Krótka zmiana perspektywy przed kolejną częścią.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67676"/>
                </a:solidFill>
                <a:latin typeface="Aptos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clean_modern_abstract_3d_conceptual_illustra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822960"/>
            <a:ext cx="5715000" cy="4983480"/>
          </a:xfrm>
          <a:prstGeom prst="roundRect">
            <a:avLst/>
          </a:prstGeom>
          <a:solidFill>
            <a:srgbClr val="333333"/>
          </a:solidFill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1430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7BF"/>
                </a:solidFill>
                <a:latin typeface="Aptos"/>
              </a:defRPr>
            </a:pPr>
            <a:r>
              <a:t>TOKENY = NOWA WALUTA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444752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Dlaczego warto myśleć</a:t>
            </a:r>
            <a:br/>
            <a:r>
              <a:t>o ekonomii współpracy z AI?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9718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W praktyce nie liczy się tylko efekt, ale też koszt dojścia do efektu.</a:t>
            </a:r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Źle dobrany kontekst i zbyt długie rozmowy szybko przepalają wartość.</a:t>
            </a:r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To wymusza dojrzałe praktyki: precyzję, selekcję i reuse.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097280"/>
            <a:ext cx="4114800" cy="233172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_clean_modern_3d_conceptual_illustration_scen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072" y="1170432"/>
            <a:ext cx="3968496" cy="218541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60920" y="3657600"/>
            <a:ext cx="4114800" cy="1874519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_clean_minimalistic_3d_abstract_tech_data_vis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4072" y="3730752"/>
            <a:ext cx="3968496" cy="172821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67676"/>
                </a:solidFill>
                <a:latin typeface="Aptos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502920"/>
            <a:ext cx="2834640" cy="2834640"/>
          </a:xfrm>
          <a:prstGeom prst="ellipse">
            <a:avLst/>
          </a:prstGeom>
          <a:solidFill>
            <a:srgbClr val="FFD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5074920"/>
            <a:ext cx="2194560" cy="219456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84048"/>
            <a:ext cx="71323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Aptos Display"/>
              </a:defRPr>
            </a:pPr>
            <a:r>
              <a:t>Jak pracować z AI tak, żeby oszczędzać tokeny?</a:t>
            </a:r>
          </a:p>
          <a:p>
            <a:pPr>
              <a:spcBef>
                <a:spcPts val="600"/>
              </a:spcBef>
              <a:defRPr sz="1250">
                <a:solidFill>
                  <a:srgbClr val="767676"/>
                </a:solidFill>
                <a:latin typeface="Aptos"/>
              </a:defRPr>
            </a:pPr>
            <a:r>
              <a:t>Praktyczna ekonomia współpracy z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463040"/>
            <a:ext cx="52120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463040"/>
            <a:ext cx="5212080" cy="64008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48828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333333"/>
                </a:solidFill>
                <a:latin typeface="Aptos Display"/>
              </a:defRPr>
            </a:pPr>
            <a:r>
              <a:t>Dobre praktyki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901184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zaczynaj od jasnego celu i oczekiwanego rezultatu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dostarczaj tylko potrzebny kontekst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rozbijaj duże zadanie na etapy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najpierw poproś o plan, potem o wykonanie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twórz reusable prompty, szablony i workflow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zamykaj wątki i nie ciągnij jednej rozmowy bez końca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463040"/>
            <a:ext cx="52120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6208" y="1463040"/>
            <a:ext cx="5212080" cy="64008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72768"/>
            <a:ext cx="48828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333333"/>
                </a:solidFill>
                <a:latin typeface="Aptos Display"/>
              </a:defRPr>
            </a:pPr>
            <a:r>
              <a:t>Czego unikać?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4901184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wklejania ogromnych fragmentów niepowiązanego materiału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proszenia o zbyt wiele rzeczy naraz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budowania agenta do jednorazowego problemu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braku decyzji, czy dziś potrzebujemy promptu, planu czy workflow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4864608"/>
            <a:ext cx="1542287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a_clean_minimalistic_3d_abstract_tech_data_vis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4937760"/>
            <a:ext cx="1395984" cy="722375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309616" y="4864608"/>
            <a:ext cx="1542287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_clean_abstract_3d_cg_graphic_scene_overall_a_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2768" y="4937760"/>
            <a:ext cx="1395984" cy="722375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961632" y="4864608"/>
            <a:ext cx="1542287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a_clean_high_tech_3d_isometric_angled_infograph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4784" y="4937760"/>
            <a:ext cx="1395984" cy="722375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749808" y="5486400"/>
            <a:ext cx="10789920" cy="621792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596128"/>
            <a:ext cx="104241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33333"/>
                </a:solidFill>
                <a:latin typeface="Aptos"/>
              </a:defRPr>
            </a:pPr>
            <a:r>
              <a:t>Tokeny to nie tylko limit techniczny. To dyscyplina lepszego myślenia i precyzyjniejszej współpracy.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67676"/>
                </a:solidFill>
                <a:latin typeface="Aptos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502920"/>
            <a:ext cx="2834640" cy="2834640"/>
          </a:xfrm>
          <a:prstGeom prst="ellipse">
            <a:avLst/>
          </a:prstGeom>
          <a:solidFill>
            <a:srgbClr val="FFD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5074920"/>
            <a:ext cx="2194560" cy="219456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84048"/>
            <a:ext cx="71323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Aptos Display"/>
              </a:defRPr>
            </a:pPr>
            <a:r>
              <a:t>Człowiek nadal pozostaje „human in the loop”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170432"/>
            <a:ext cx="4709160" cy="347472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wide_3d_rendered_abstract_scene_minimal_corpo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1243584"/>
            <a:ext cx="4562856" cy="332841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8" y="4754880"/>
            <a:ext cx="1496568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_clean_modern_abstract_3d_conceptual_illustrat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9" y="4828032"/>
            <a:ext cx="1350264" cy="7223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2356104" y="4754880"/>
            <a:ext cx="1496568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_clean_modern_3d_conceptual_illustration_scen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9256" y="4828032"/>
            <a:ext cx="1350264" cy="72237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962400" y="4754880"/>
            <a:ext cx="1496568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_clean_high_tech_3d_isometric_angled_infograph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5552" y="4828032"/>
            <a:ext cx="1350264" cy="7223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50992" y="1417320"/>
            <a:ext cx="54864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AI przyspiesza pracę, ale nie przejmuje odpowiedzialności biznesowej.</a:t>
            </a:r>
          </a:p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To człowiek ocenia poprawność, adekwatność i ryzyko rozwiązania.</a:t>
            </a:r>
          </a:p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Najwięcej problemów powstaje wtedy, gdy ktoś traktuje AI jak wyrocznię, a nie jak współpracownika.</a:t>
            </a:r>
          </a:p>
          <a:p>
            <a:pPr>
              <a:spcAft>
                <a:spcPts val="800"/>
              </a:spcAft>
              <a:defRPr sz="1650">
                <a:solidFill>
                  <a:srgbClr val="333333"/>
                </a:solidFill>
                <a:latin typeface="Aptos"/>
              </a:defRPr>
            </a:pPr>
            <a:r>
              <a:t>Dojrzałe wykorzystanie AI oznacza połączenie automatyzacji z kontrolą.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5486400"/>
            <a:ext cx="10789920" cy="621792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596128"/>
            <a:ext cx="104241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33333"/>
                </a:solidFill>
                <a:latin typeface="Aptos"/>
              </a:defRPr>
            </a:pPr>
            <a:r>
              <a:t>Dobre wdrożenie AI nie eliminuje człowieka. Zmienia miejsce, w którym człowiek wnosi największą wartość.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67676"/>
                </a:solidFill>
                <a:latin typeface="Aptos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502920"/>
            <a:ext cx="2834640" cy="2834640"/>
          </a:xfrm>
          <a:prstGeom prst="ellipse">
            <a:avLst/>
          </a:prstGeom>
          <a:solidFill>
            <a:srgbClr val="FFD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5074920"/>
            <a:ext cx="2194560" cy="219456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84048"/>
            <a:ext cx="71323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Aptos Display"/>
              </a:defRPr>
            </a:pPr>
            <a:r>
              <a:t>Najczęstsze błędy we współpracy z AI</a:t>
            </a:r>
          </a:p>
          <a:p>
            <a:pPr>
              <a:spcBef>
                <a:spcPts val="600"/>
              </a:spcBef>
              <a:defRPr sz="1250">
                <a:solidFill>
                  <a:srgbClr val="767676"/>
                </a:solidFill>
                <a:latin typeface="Aptos"/>
              </a:defRPr>
            </a:pPr>
            <a:r>
              <a:t>Co najczęściej psuje wartość z AI?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463040"/>
            <a:ext cx="52120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463040"/>
            <a:ext cx="5212080" cy="64008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48828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333333"/>
                </a:solidFill>
                <a:latin typeface="Aptos Display"/>
              </a:defRPr>
            </a:pPr>
            <a:r>
              <a:t>Błędy użytkowników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901184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brak jasnego celu i kryteriów sukcesu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za duży, źle dobrany kontekst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zbyt szybkie przechodzenie do budowy agenta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brak weryfikacji wyniku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mylenie efektownej odpowiedzi z poprawną odpowiedzią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463040"/>
            <a:ext cx="52120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6208" y="1463040"/>
            <a:ext cx="5212080" cy="64008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72768"/>
            <a:ext cx="48828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333333"/>
                </a:solidFill>
                <a:latin typeface="Aptos Display"/>
              </a:defRPr>
            </a:pPr>
            <a:r>
              <a:t>Błędy organizacji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4901184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traktowanie AI wyłącznie jako narzędzia do pisania kodu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brak wspólnych wzorców i zasad użycia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brak mierników lub choćby jakościowej obserwacji efektów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brak wsparcia dla reuse: szablonów, promptów, agentów i przykładów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4864608"/>
            <a:ext cx="1542287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a_clean_high_detail_3d_abstract_sci_fi_tech_com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4937760"/>
            <a:ext cx="1395984" cy="722375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309616" y="4864608"/>
            <a:ext cx="1542287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_clean_abstract_3d_cg_graphic_scene_overall_a_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2768" y="4937760"/>
            <a:ext cx="1395984" cy="722375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961632" y="4864608"/>
            <a:ext cx="1542287" cy="86868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a_clean_high_tech_3d_isometric_angled_infograph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4784" y="4937760"/>
            <a:ext cx="1395984" cy="722375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749808" y="5486400"/>
            <a:ext cx="10789920" cy="621792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596128"/>
            <a:ext cx="104241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33333"/>
                </a:solidFill>
                <a:latin typeface="Aptos"/>
              </a:defRPr>
            </a:pPr>
            <a:r>
              <a:t>Wartość z AI nie psuje się zwykle przez model. Psuje się przez słabe praktyki pracy z nim.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67676"/>
                </a:solidFill>
                <a:latin typeface="Aptos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502920"/>
            <a:ext cx="2834640" cy="2834640"/>
          </a:xfrm>
          <a:prstGeom prst="ellipse">
            <a:avLst/>
          </a:prstGeom>
          <a:solidFill>
            <a:srgbClr val="FFD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5074920"/>
            <a:ext cx="2194560" cy="219456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84048"/>
            <a:ext cx="71323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Aptos Display"/>
              </a:defRPr>
            </a:pPr>
            <a:r>
              <a:t>Kierunek rozwoju</a:t>
            </a:r>
          </a:p>
          <a:p>
            <a:pPr>
              <a:spcBef>
                <a:spcPts val="600"/>
              </a:spcBef>
              <a:defRPr sz="1250">
                <a:solidFill>
                  <a:srgbClr val="767676"/>
                </a:solidFill>
                <a:latin typeface="Aptos"/>
              </a:defRPr>
            </a:pPr>
            <a:r>
              <a:t>Od indywidualnej pomocy do zdolności organizacyjnej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10896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3108960" cy="64008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847088"/>
            <a:ext cx="27797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333333"/>
                </a:solidFill>
                <a:latin typeface="Aptos Display"/>
              </a:defRPr>
            </a:pPr>
            <a:r>
              <a:t>Dzisiaj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194560"/>
            <a:ext cx="2798064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Prompty i pierwsze wyspecjalizowane workflow.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AI pomaga tworzyć wynik szybciej i spójniej.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737360"/>
            <a:ext cx="310896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69080" y="1737360"/>
            <a:ext cx="3108960" cy="64008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33672" y="1847088"/>
            <a:ext cx="27797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333333"/>
                </a:solidFill>
                <a:latin typeface="Aptos Display"/>
              </a:defRPr>
            </a:pPr>
            <a:r>
              <a:t>Jutro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33672" y="2194560"/>
            <a:ext cx="2798064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Mniej ręcznego tłumaczenia procesu.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Więcej reuse przez gotowe wzorce.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737360"/>
            <a:ext cx="310896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1737360"/>
            <a:ext cx="3108960" cy="64008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25512" y="1847088"/>
            <a:ext cx="27797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333333"/>
                </a:solidFill>
                <a:latin typeface="Aptos Display"/>
              </a:defRPr>
            </a:pPr>
            <a:r>
              <a:t>Docelowo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25512" y="2194560"/>
            <a:ext cx="2798064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Projekt referencyjny jako źródło standardu.</a:t>
            </a:r>
          </a:p>
          <a:p>
            <a:pPr>
              <a:spcAft>
                <a:spcPts val="400"/>
              </a:spcAft>
              <a:defRPr sz="1120">
                <a:solidFill>
                  <a:srgbClr val="333333"/>
                </a:solidFill>
                <a:latin typeface="Aptos"/>
              </a:defRPr>
            </a:pPr>
            <a:r>
              <a:t>AI jako nośnik wiedzy, jakości i architektury.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776472" y="3291840"/>
            <a:ext cx="164591" cy="0"/>
          </a:xfrm>
          <a:prstGeom prst="line">
            <a:avLst/>
          </a:prstGeom>
          <a:ln w="29209">
            <a:solidFill>
              <a:srgbClr val="FF6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068312" y="3291840"/>
            <a:ext cx="164592" cy="0"/>
          </a:xfrm>
          <a:prstGeom prst="line">
            <a:avLst/>
          </a:prstGeom>
          <a:ln w="29209">
            <a:solidFill>
              <a:srgbClr val="FF6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703320" y="4901184"/>
            <a:ext cx="1527048" cy="841248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a_clean_high_detail_3d_abstract_sci_fi_tech_com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472" y="4974336"/>
            <a:ext cx="1380744" cy="694944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5340096" y="4901184"/>
            <a:ext cx="1527048" cy="841248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a_clean_high_tech_3d_isometric_angled_infograph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4974336"/>
            <a:ext cx="1380744" cy="694944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976872" y="4901184"/>
            <a:ext cx="1527048" cy="841248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wide_3d_rendered_abstract_scene_minimal_corpo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0024" y="4974336"/>
            <a:ext cx="1380744" cy="694944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749808" y="5486400"/>
            <a:ext cx="10789920" cy="621792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5596128"/>
            <a:ext cx="104241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33333"/>
                </a:solidFill>
                <a:latin typeface="Aptos"/>
              </a:defRPr>
            </a:pPr>
            <a:r>
              <a:t>Najmocniejsza myśl: agent nie jest tylko generatorem kodu. Jest mechanizmem egzekwowania sposobu pracy zespołu.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67676"/>
                </a:solidFill>
                <a:latin typeface="Aptos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de_3d_rendered_abstract_scene_minimal_corpo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777240"/>
            <a:ext cx="57607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0972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200"/>
                </a:solidFill>
                <a:latin typeface="Aptos"/>
              </a:defRPr>
            </a:pPr>
            <a:r>
              <a:t>PODSUMOWANIE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33333"/>
                </a:solidFill>
                <a:latin typeface="Aptos"/>
              </a:defRPr>
            </a:pPr>
            <a:r>
              <a:t>5 myśli, które warto zapamiętać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50749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20">
                <a:solidFill>
                  <a:srgbClr val="333333"/>
                </a:solidFill>
                <a:latin typeface="Aptos"/>
              </a:defRPr>
            </a:pPr>
            <a:r>
              <a:t>AI wspiera nie tylko development, ale cały SDLC.</a:t>
            </a:r>
          </a:p>
          <a:p>
            <a:pPr>
              <a:spcAft>
                <a:spcPts val="800"/>
              </a:spcAft>
              <a:defRPr sz="1620">
                <a:solidFill>
                  <a:srgbClr val="333333"/>
                </a:solidFill>
                <a:latin typeface="Aptos"/>
              </a:defRPr>
            </a:pPr>
            <a:r>
              <a:t>Nie każde zadanie wymaga agenta. Czasem najlepszy jest prosty prompt.</a:t>
            </a:r>
          </a:p>
          <a:p>
            <a:pPr>
              <a:spcAft>
                <a:spcPts val="800"/>
              </a:spcAft>
              <a:defRPr sz="1620">
                <a:solidFill>
                  <a:srgbClr val="333333"/>
                </a:solidFill>
                <a:latin typeface="Aptos"/>
              </a:defRPr>
            </a:pPr>
            <a:r>
              <a:t>Największa wartość pojawia się wtedy, gdy AI zna nasze reguły i standardy.</a:t>
            </a:r>
          </a:p>
          <a:p>
            <a:pPr>
              <a:spcAft>
                <a:spcPts val="800"/>
              </a:spcAft>
              <a:defRPr sz="1620">
                <a:solidFill>
                  <a:srgbClr val="333333"/>
                </a:solidFill>
                <a:latin typeface="Aptos"/>
              </a:defRPr>
            </a:pPr>
            <a:r>
              <a:t>W sektorach regulowanych ograniczenia są realne — i mają sens.</a:t>
            </a:r>
          </a:p>
          <a:p>
            <a:pPr>
              <a:spcAft>
                <a:spcPts val="800"/>
              </a:spcAft>
              <a:defRPr sz="1620">
                <a:solidFill>
                  <a:srgbClr val="333333"/>
                </a:solidFill>
                <a:latin typeface="Aptos"/>
              </a:defRPr>
            </a:pPr>
            <a:r>
              <a:t>Człowiek nadal odpowiada za decyzję, jakość, ryzyko i bezpieczeństwo.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097280"/>
            <a:ext cx="3840480" cy="196596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_clean_modern_3d_conceptual_illustration_scen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231" y="1170432"/>
            <a:ext cx="3694176" cy="181965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3273552"/>
            <a:ext cx="3840480" cy="196596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_clean_modern_abstract_3d_conceptual_illustrat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231" y="3346704"/>
            <a:ext cx="3694176" cy="181965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67676"/>
                </a:solidFill>
                <a:latin typeface="Aptos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clean_abstract_3d_cg_graphic_scene_overall_a_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Dziękuję</a:t>
            </a:r>
            <a:br/>
            <a:r>
              <a:t>Pytania?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36576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Możemy porozmawiać zarówno o narzędziach, jak i o organizacyjnej stronie wdrażania AI.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79" y="1234440"/>
            <a:ext cx="3291840" cy="182880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_clean_high_detail_3d_abstract_sci_fi_tech_com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9831" y="1307592"/>
            <a:ext cx="3145536" cy="168249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26679" y="3383280"/>
            <a:ext cx="3291840" cy="1828800"/>
          </a:xfrm>
          <a:prstGeom prst="roundRect">
            <a:avLst/>
          </a:prstGeom>
          <a:solidFill>
            <a:srgbClr val="FAFAFA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_clean_modern_3d_conceptual_illustration_scen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9831" y="3456432"/>
            <a:ext cx="3145536" cy="168249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92840" y="635508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67676"/>
                </a:solidFill>
                <a:latin typeface="Aptos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